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097280" cy="10972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3657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N100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737360" y="137160"/>
            <a:ext cx="7132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System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0" y="1463040"/>
            <a:ext cx="914400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5087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Financial Analysis Platform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24688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68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vauldandsouza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24688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2468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2788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– June 2026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2423160"/>
            <a:ext cx="24688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468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27889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Weeks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3794760"/>
            <a:ext cx="914400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 •  Business Intelligence  •  Machine Learning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00584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09728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11556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93192" y="1737360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3192" y="2331720"/>
            <a:ext cx="140817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NSE/BSE CSV files, financial statements from 100 Nifty companies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39112" y="100584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42032" y="1097280"/>
            <a:ext cx="548640" cy="5486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11556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12264" y="1737360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12264" y="2331720"/>
            <a:ext cx="140817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ETL pipeline: clean, transform &amp; validate raw data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58184" y="100584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61104" y="1097280"/>
            <a:ext cx="548640" cy="54864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11556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831336" y="1737360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31336" y="2331720"/>
            <a:ext cx="140817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PostgreSQL warehouse with fact &amp; dimension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7256" y="100584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65F4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0176" y="1097280"/>
            <a:ext cx="548640" cy="548640"/>
          </a:xfrm>
          <a:prstGeom prst="ellipse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0176" y="111556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50408" y="1737360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Layer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50408" y="2331720"/>
            <a:ext cx="140817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dashboards with DAX measures &amp; interactive visuals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96328" y="1005840"/>
            <a:ext cx="1554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64E3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699248" y="1097280"/>
            <a:ext cx="548640" cy="548640"/>
          </a:xfrm>
          <a:prstGeom prst="ellipse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99248" y="1115568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69480" y="1737360"/>
            <a:ext cx="14081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269480" y="2331720"/>
            <a:ext cx="1408176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health scoring system to rank company fundamentals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384048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05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BEFORE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3840480" cy="301752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27632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downloading data from NSE/BSE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57984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1214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spent formatting data in Excel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88336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analysis across reports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18688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1821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updates or automation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7124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 manual calculations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457200" cy="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251460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29200" y="1005840"/>
            <a:ext cx="384048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0058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AFTER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029200" y="1508760"/>
            <a:ext cx="3840480" cy="301752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3792" y="1627632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 pipeline runs weekly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93792" y="2157984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21214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metrics across all reports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193792" y="2688336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interactive Power BI dashboards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93792" y="3218688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0" y="31821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refresh every Saturday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193792" y="374904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0" y="37124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DAX-based calculations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Deliverables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502920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058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Power BI Dashboards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1463040"/>
            <a:ext cx="502920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9047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Executive Overview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892808"/>
            <a:ext cx="50292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Company Deep Dive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322576"/>
            <a:ext cx="502920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5000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Sector Analysis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752344"/>
            <a:ext cx="50292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79776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Valuation Metrics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182112"/>
            <a:ext cx="502920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09544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Cash Flow Analysis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50292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393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ML Intelligence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041648"/>
            <a:ext cx="5029200" cy="429768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0690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Executive Summary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77840" y="1005840"/>
            <a:ext cx="3291840" cy="4572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778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Deliverables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577840" y="1536192"/>
            <a:ext cx="329184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160934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715000" y="195681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star schema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0" y="2542032"/>
            <a:ext cx="329184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261518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15000" y="296265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automation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77840" y="3547872"/>
            <a:ext cx="329184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362102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Library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15000" y="3968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reusable formulas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1: Executive Overview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97280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887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265176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23774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Top/bottom performers, index overview, sector heat map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1887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200400" y="1828800"/>
            <a:ext cx="265176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Performance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23774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profit trends across all NIFTY sectors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1887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126480" y="1828800"/>
            <a:ext cx="265176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Growth Tracker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63640" y="237744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Year-on-year growth comparison for key financials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4160520"/>
            <a:ext cx="8595360" cy="54864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Features: Company slicer • Year slicer • Sector filter • Export to PDF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2: Company Deep Dive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594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One company selector drives ALL visuals simultaneously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78308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783080"/>
            <a:ext cx="7315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74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Company Selector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38912" y="22860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dropdown — select TCS, HDFC, Reliance, etc. to update all charts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78308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783080"/>
            <a:ext cx="7315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3752" y="18745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Financial Summary Cards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22860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Net Profit, OPM%, ROE — all key KPIs at a glance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15468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3154680"/>
            <a:ext cx="7315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46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Profitability Charts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8912" y="36576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Multi-year trend lines for margins, growth &amp; efficiency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3154680"/>
            <a:ext cx="4114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3154680"/>
            <a:ext cx="73152" cy="1234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3246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Detailed Metrics Table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73752" y="36576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financial ratios side by side for in-depth comparison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526280"/>
            <a:ext cx="8595360" cy="36576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5445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Select 'TCS' → instantly see all TCS financial metrics, charts &amp; health score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Star Schema Design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83280" y="1874520"/>
            <a:ext cx="2377440" cy="2011680"/>
          </a:xfrm>
          <a:prstGeom prst="rect">
            <a:avLst/>
          </a:prstGeom>
          <a:solidFill>
            <a:srgbClr val="10B981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383280" y="19202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93008" y="229514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fact_profit_loss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93008" y="256032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fact_balance_sheet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93008" y="282549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fact_cash_flow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93008" y="3090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fact_ml_scores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93008" y="33558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fact_pros_cons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3008" y="362102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fact_analysis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491740"/>
            <a:ext cx="20116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648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dim_company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9306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companies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66160" y="960120"/>
            <a:ext cx="20116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10332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dim_year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13990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2491740"/>
            <a:ext cx="20116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256489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dim_sector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29306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groups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66160" y="3931920"/>
            <a:ext cx="20116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dim_health_label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4370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categories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82880" y="4663440"/>
            <a:ext cx="228600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663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4663440"/>
            <a:ext cx="228600" cy="22860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80360" y="46634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Tables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EXTRACT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265176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6642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Pull from multiple CSV sources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23113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NSE/BSE raw financial files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9806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100 company datasets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33649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Historical data 2013–2023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25603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0400" y="1005840"/>
            <a:ext cx="2651760" cy="5486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TRANSFORM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00400" y="1554480"/>
            <a:ext cx="2651760" cy="256032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6642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Calculate financial ratios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23113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ML health scores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279806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Validate data quality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3649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Standardize formats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256032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126480" y="1005840"/>
            <a:ext cx="2651760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0058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LOAD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126480" y="1554480"/>
            <a:ext cx="2651760" cy="2560320"/>
          </a:xfrm>
          <a:prstGeom prst="rect">
            <a:avLst/>
          </a:prstGeom>
          <a:solidFill>
            <a:srgbClr val="F0FDF4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166420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Insert into PostgreSQL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2231136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Populate fact tables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63640" y="2798064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Update dimension tables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33649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Refresh Power BI model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32511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🕐  Schedule: Runs every Saturday (weekly refresh) — fully automated, no manual intervention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Library (25+ Formulas)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51560"/>
            <a:ext cx="8595360" cy="685800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51560"/>
            <a:ext cx="12801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91640" y="10972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Calculation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124712"/>
            <a:ext cx="4389120" cy="530352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1143000"/>
            <a:ext cx="4206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Profit / Shareholders' Equity × 100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810512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810512"/>
            <a:ext cx="12801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810512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91640" y="185623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3Y Sales CAGR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883664"/>
            <a:ext cx="4389120" cy="530352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901952"/>
            <a:ext cx="4206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((Revenue_t / Revenue_t-3) ^ (1/3) - 1) × 100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569464"/>
            <a:ext cx="8595360" cy="685800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569464"/>
            <a:ext cx="12801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569464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91640" y="261518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OPM%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43400" y="2642616"/>
            <a:ext cx="4389120" cy="530352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34840" y="2660904"/>
            <a:ext cx="4206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AVERAGEX(years, Operating Profit / Revenue × 100)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328416"/>
            <a:ext cx="85953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3328416"/>
            <a:ext cx="12801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328416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691640" y="3374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Distribution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343400" y="3401568"/>
            <a:ext cx="4389120" cy="530352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3419856"/>
            <a:ext cx="4206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COUNTX(FILTER(scores, score &gt;= threshold), company)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087368"/>
            <a:ext cx="8595360" cy="685800"/>
          </a:xfrm>
          <a:prstGeom prst="rect">
            <a:avLst/>
          </a:prstGeom>
          <a:solidFill>
            <a:srgbClr val="F0FDF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4087368"/>
            <a:ext cx="1280160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087368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691640" y="413308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Debt-to-Equity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343400" y="4160520"/>
            <a:ext cx="4389120" cy="530352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34840" y="4178808"/>
            <a:ext cx="4206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Debt / Total Equity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63600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All 25+ measures are reusable across all 7 dashboards — ensuring consistent calculations company-wide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Health Scoring System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Components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5029200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645920"/>
            <a:ext cx="2926080" cy="1828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645920"/>
            <a:ext cx="877824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Profitability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14081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ROE, OPM%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0" y="1408176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984248"/>
            <a:ext cx="5029200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258568"/>
            <a:ext cx="2926080" cy="1828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2258568"/>
            <a:ext cx="7315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2082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202082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CAGR, Profit Growth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20208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596896"/>
            <a:ext cx="5029200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871216"/>
            <a:ext cx="2926080" cy="1828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871216"/>
            <a:ext cx="585216" cy="182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263347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86000" y="26334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Debt-to-Equity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26334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3209544"/>
            <a:ext cx="5029200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483864"/>
            <a:ext cx="2926080" cy="1828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3483864"/>
            <a:ext cx="438912" cy="1828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2461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32461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Ratio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0" y="32461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4320" y="3822192"/>
            <a:ext cx="5029200" cy="530352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4096512"/>
            <a:ext cx="2926080" cy="1828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4096512"/>
            <a:ext cx="292608" cy="1828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38587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8587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Earnings Quality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40480" y="3858768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0" y="1005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Ranges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0" y="1371600"/>
            <a:ext cx="3383280" cy="713232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77840" y="1463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26480" y="1417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– 100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126480" y="1737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0" y="2167128"/>
            <a:ext cx="3383280" cy="713232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22585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6126480" y="22128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84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126480" y="2532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486400" y="2962656"/>
            <a:ext cx="3383280" cy="713232"/>
          </a:xfrm>
          <a:prstGeom prst="rect">
            <a:avLst/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77840" y="30540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6126480" y="300837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– 69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126480" y="33284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0" y="3758184"/>
            <a:ext cx="3383280" cy="713232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77840" y="38496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6126480" y="38039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49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6126480" y="41239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from Analysis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274320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05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Top Performers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743200" cy="31089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6420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62763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TCS: 28.5% ROE, 20.4% OPM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68296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088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Bank: 18.2% ROE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72384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088" y="303580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Infosys: Consistent margins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7647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373989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Bajaj Finance: High growth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1005840"/>
            <a:ext cx="274320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1005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Growth Leaders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46120" y="1508760"/>
            <a:ext cx="2743200" cy="310896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29000" y="1664208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75888" y="162763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Diversified growth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2368296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75888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Adani Group: Rapid expansion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29000" y="3072384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75888" y="303580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Zomato: Revenue surge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29000" y="3776472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75888" y="373989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Motors: EV pivot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1005840"/>
            <a:ext cx="2743200" cy="5029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0058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Sector Insights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1508760"/>
            <a:ext cx="2743200" cy="3108960"/>
          </a:xfrm>
          <a:prstGeom prst="rect">
            <a:avLst/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1664208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47688" y="162763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Sector: ~20% margins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2368296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47688" y="23317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 Stable growth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0" y="3072384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47688" y="303580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Energy: Capital-intensive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00800" y="3776472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47688" y="373989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FMCG: Defensive stocks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515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1612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1143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4904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89280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open-source, production-grade RDBMS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11612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977640" y="1143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14904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189280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for transforms, psycopg2 for DB connectivity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6128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1143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949440" y="149047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Visualization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189280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dashboards with rich interactivity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78892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2898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05840" y="2880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&amp; 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3227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Language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63016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calculated columns, measures &amp; data shaping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46120" y="278892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246120" y="2898648"/>
            <a:ext cx="685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977640" y="28803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977640" y="32278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Design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83280" y="363016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analytical queries and fast aggregations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51560"/>
            <a:ext cx="4023360" cy="8229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51560"/>
            <a:ext cx="6400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Challenge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data formats across sources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43484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46320" y="1051560"/>
            <a:ext cx="4023360" cy="8229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51560"/>
            <a:ext cx="6400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10972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34416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ETL pipeline with validation checks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11680"/>
            <a:ext cx="4023360" cy="8229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" y="2011680"/>
            <a:ext cx="6400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057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Challenge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30428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financial ratio calculations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846320" y="2011680"/>
            <a:ext cx="4023360" cy="8229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011680"/>
            <a:ext cx="6400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20574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230428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Python logic + DAX IFERROR handling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2971800"/>
            <a:ext cx="4023360" cy="8229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2971800"/>
            <a:ext cx="6400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017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Challenge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2644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performance with large datasets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43484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846320" y="2971800"/>
            <a:ext cx="4023360" cy="8229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71800"/>
            <a:ext cx="6400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30175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0" y="32644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+ PostgreSQL indexing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4320" y="3931920"/>
            <a:ext cx="4023360" cy="8229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931920"/>
            <a:ext cx="64008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977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Challenge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224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 weighting methodology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34840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846320" y="3931920"/>
            <a:ext cx="4023360" cy="8229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931920"/>
            <a:ext cx="64008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0" y="3977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0" y="422452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knowledge from CFA + expert validation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Real-World Use Cases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51560" y="10972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Managers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51560" y="1463040"/>
            <a:ext cx="32004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7218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Executive Overview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1783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market-wide snapshot and sector performance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0" y="10972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Analysts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0" y="1463040"/>
            <a:ext cx="32004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32120" y="147218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Company Deep Dive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0" y="17830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fundamental analysis of any Nifty company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42316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051560" y="25146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Investors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051560" y="2880360"/>
            <a:ext cx="32004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288950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Summary + Comparison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" y="3200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companies before making investment decisions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42316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0060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486400" y="25146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0" y="2880360"/>
            <a:ext cx="3200400" cy="27432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32120" y="2889504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Uses: Cash Flow Dashboard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3200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liquidity and leverage trends over time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977640"/>
            <a:ext cx="8595360" cy="73152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research time from hours → minutes   •   Democratizes financial data   •   Enables data-driven decisions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 &amp; Roadmap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0" y="109728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Streaming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0299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API integration for live price &amp; volume data feeds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109728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ML Models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20299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 for revenue and profit forecasting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0" y="109728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10972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09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Optimization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0299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rebalancing recommendations using Markowitz theory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28803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828800" y="297180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0" y="2971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97180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9044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On-the-go access via iOS and Android companion app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46120" y="28803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97180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71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37560" y="297180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3756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3756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37560" y="39044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and earnings call sentiment integrated into health scores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288036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772400" y="2971800"/>
            <a:ext cx="10972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0" y="2971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2027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30936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Alerts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09360" y="390448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for score changes &amp; anomaly detection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Lessons Learned (8-Week Journey)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9728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41832" y="1097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is Paramount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 — cleaning took 40% of project time but was essential for trustworthy insights.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00584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73752" y="109728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73752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76672" y="1097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Data Modeling is Foundational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554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Investing early in a proper star schema saved weeks of rework and made DAX measures far simpler.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00584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" y="109728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41832" y="10972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Saves Time &amp; Errors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1554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 the ETL pipeline eliminated manual steps, reduced errors, and enabled consistent weekly refreshes.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317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33172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73752" y="242316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73752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76672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User-Centric Design Matters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92040" y="28803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built for end users (not just analysts) drove much higher adoption and usefulness.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23317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233172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8912" y="242316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41832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is Underrated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28803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docs for DAX measures and schema saved hours in debugging and onboarding new team members.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23317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233172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2423160"/>
            <a:ext cx="411480" cy="411480"/>
          </a:xfrm>
          <a:prstGeom prst="ellipse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76672" y="24231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Catches Issues Early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892040" y="28803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on Python transforms caught data issues before they reached Power BI and affected reports.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74320" y="4846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100 Financial Intelligence System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50392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4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Summary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286000" y="868680"/>
            <a:ext cx="457200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051560"/>
            <a:ext cx="6400800" cy="521208"/>
          </a:xfrm>
          <a:prstGeom prst="rect">
            <a:avLst/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07899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Production-ready financial intelligence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645920"/>
            <a:ext cx="6400800" cy="521208"/>
          </a:xfrm>
          <a:prstGeom prst="rect">
            <a:avLst/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167335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7 fully interactive Power BI dashboards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240280"/>
            <a:ext cx="6400800" cy="521208"/>
          </a:xfrm>
          <a:prstGeom prst="rect">
            <a:avLst/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226771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Automated ETL pipeline with weekly refresh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371600" y="2834640"/>
            <a:ext cx="6400800" cy="521208"/>
          </a:xfrm>
          <a:prstGeom prst="rect">
            <a:avLst/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2862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ML health scoring across 100 Nifty companies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3429000"/>
            <a:ext cx="6400800" cy="521208"/>
          </a:xfrm>
          <a:prstGeom prst="rect">
            <a:avLst/>
          </a:prstGeom>
          <a:solidFill>
            <a:srgbClr val="065F46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34564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Standardized DAX measures library (25+ formulas)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deployment and scalable to additional markets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•  vauldandsouza  •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Nifty 100 Financial Intelligence System</dc:title>
  <dc:subject>PptxGenJS Presentation</dc:subject>
  <dc:creator>vauldandsouza</dc:creator>
  <cp:lastModifiedBy>vauldandsouza</cp:lastModifiedBy>
  <cp:revision>1</cp:revision>
  <dcterms:created xsi:type="dcterms:W3CDTF">2026-06-01T21:06:49Z</dcterms:created>
  <dcterms:modified xsi:type="dcterms:W3CDTF">2026-06-01T21:06:49Z</dcterms:modified>
</cp:coreProperties>
</file>